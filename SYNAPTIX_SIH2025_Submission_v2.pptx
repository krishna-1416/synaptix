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0F1E46"/>
                </a:solidFill>
              </a:defRPr>
            </a:pPr>
            <a:r>
              <a:t>SYNAPTIX</a:t>
            </a:r>
          </a:p>
          <a:p>
            <a:r>
              <a:t>Automated Legal Metrology Inspection 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Problem Statement ID: </a:t>
            </a:r>
            <a:r>
              <a:rPr b="0" sz="1200">
                <a:solidFill>
                  <a:srgbClr val="283246"/>
                </a:solidFill>
              </a:rPr>
              <a:t>SIH26034
</a:t>
            </a:r>
          </a:p>
          <a:p>
            <a:r>
              <a:rPr b="1" sz="1300">
                <a:solidFill>
                  <a:srgbClr val="0F1E46"/>
                </a:solidFill>
              </a:rPr>
              <a:t>• Problem Statement Title: </a:t>
            </a:r>
            <a:r>
              <a:rPr b="0" sz="1200">
                <a:solidFill>
                  <a:srgbClr val="283246"/>
                </a:solidFill>
              </a:rPr>
              <a:t>Software System to check compliance of Packaged Commodities under Legal Metrology (Packaged Commodities) Rules, 2011 by scanning products, images, and labels
</a:t>
            </a:r>
          </a:p>
          <a:p>
            <a:r>
              <a:rPr b="1" sz="1300">
                <a:solidFill>
                  <a:srgbClr val="0F1E46"/>
                </a:solidFill>
              </a:rPr>
              <a:t>• Theme: </a:t>
            </a:r>
            <a:r>
              <a:rPr b="0" sz="1200">
                <a:solidFill>
                  <a:srgbClr val="283246"/>
                </a:solidFill>
              </a:rPr>
              <a:t>Miscellaneous / Consumer Protection / FoodTech
</a:t>
            </a:r>
          </a:p>
          <a:p>
            <a:r>
              <a:rPr b="1" sz="1300">
                <a:solidFill>
                  <a:srgbClr val="0F1E46"/>
                </a:solidFill>
              </a:rPr>
              <a:t>• PS Category: </a:t>
            </a:r>
            <a:r>
              <a:rPr b="0" sz="1200">
                <a:solidFill>
                  <a:srgbClr val="283246"/>
                </a:solidFill>
              </a:rPr>
              <a:t>Software
</a:t>
            </a:r>
          </a:p>
          <a:p>
            <a:r>
              <a:rPr b="1" sz="1300">
                <a:solidFill>
                  <a:srgbClr val="0F1E46"/>
                </a:solidFill>
              </a:rPr>
              <a:t>• Team ID: </a:t>
            </a:r>
            <a:r>
              <a:rPr b="0" sz="1200">
                <a:solidFill>
                  <a:srgbClr val="283246"/>
                </a:solidFill>
              </a:rPr>
              <a:t>[Your Team ID]
</a:t>
            </a:r>
          </a:p>
          <a:p>
            <a:r>
              <a:rPr b="1" sz="1300">
                <a:solidFill>
                  <a:srgbClr val="0F1E46"/>
                </a:solidFill>
              </a:rPr>
              <a:t>• Team Name: </a:t>
            </a:r>
            <a:r>
              <a:rPr b="0" sz="1200">
                <a:solidFill>
                  <a:srgbClr val="283246"/>
                </a:solidFill>
              </a:rPr>
              <a:t>SYNAPTIX
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SYNAPTIX: AI Packaging Compliance Inspector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CC"/>
                </a:solidFill>
              </a:defRPr>
            </a:pPr>
            <a:r>
              <a:t>Proposed Solution (Describe your Idea/Solution/Prototype)</a:t>
            </a:r>
          </a:p>
          <a:p/>
          <a:p>
            <a:r>
              <a:rPr b="1" sz="1300">
                <a:solidFill>
                  <a:srgbClr val="0F1E46"/>
                </a:solidFill>
              </a:rPr>
              <a:t>• Detailed explanation of proposed solution:</a:t>
            </a:r>
          </a:p>
          <a:p>
            <a:r>
              <a:rPr sz="1100">
                <a:solidFill>
                  <a:srgbClr val="323C50"/>
                </a:solidFill>
              </a:rPr>
              <a:t>    - Mobile-First Scan: Field officers capture packaging photos via an offline-capable PWA.</a:t>
            </a:r>
          </a:p>
          <a:p>
            <a:r>
              <a:rPr sz="1100">
                <a:solidFill>
                  <a:srgbClr val="323C50"/>
                </a:solidFill>
              </a:rPr>
              <a:t>    - Computer Vision &amp; Deep OCR: OpenCV deskews &amp; filters reflections; PaddleOCR (PP-OCRv4) extracts multi-oriented text, currency, and quantities.</a:t>
            </a:r>
          </a:p>
          <a:p>
            <a:r>
              <a:rPr sz="1100">
                <a:solidFill>
                  <a:srgbClr val="323C50"/>
                </a:solidFill>
              </a:rPr>
              <a:t>    - Deterministic Rule 6 Engine: Validates the 6 mandatory statutory declarations (MRP, Net Qty, Mfg Date, Origin, Manufacturer, Consumer Care).</a:t>
            </a:r>
          </a:p>
          <a:p>
            <a:r>
              <a:rPr sz="1100">
                <a:solidFill>
                  <a:srgbClr val="323C50"/>
                </a:solidFill>
              </a:rPr>
              <a:t>    - Tamper-Proof Notice: Generates timestamped PDF compliance certificates with bounding-box visual evidence in &lt; 1.8 seconds.</a:t>
            </a:r>
          </a:p>
          <a:p>
            <a:r>
              <a:rPr b="1" sz="1300">
                <a:solidFill>
                  <a:srgbClr val="0F1E46"/>
                </a:solidFill>
              </a:rPr>
              <a:t>• How it addresses the problem:</a:t>
            </a:r>
          </a:p>
          <a:p>
            <a:r>
              <a:rPr sz="1100">
                <a:solidFill>
                  <a:srgbClr val="323C50"/>
                </a:solidFill>
              </a:rPr>
              <a:t>    - Replaces 20-minute manual ruler-and-magnifier checks with automated, instant &lt; 2s validation.</a:t>
            </a:r>
          </a:p>
          <a:p>
            <a:r>
              <a:rPr sz="1100">
                <a:solidFill>
                  <a:srgbClr val="323C50"/>
                </a:solidFill>
              </a:rPr>
              <a:t>    - Eliminates subjective inspector bias and consumer price gouging across retail stores and e-commerce.</a:t>
            </a:r>
          </a:p>
          <a:p>
            <a:r>
              <a:rPr sz="1100">
                <a:solidFill>
                  <a:srgbClr val="323C50"/>
                </a:solidFill>
              </a:rPr>
              <a:t>    - Zero Cloud Cost: Operates entirely on self-hosted open-source models with $0 API token dependencies.</a:t>
            </a:r>
          </a:p>
          <a:p>
            <a:r>
              <a:rPr b="1" sz="1300">
                <a:solidFill>
                  <a:srgbClr val="0F1E46"/>
                </a:solidFill>
              </a:rPr>
              <a:t>• Innovation and uniqueness of the solution:</a:t>
            </a:r>
          </a:p>
          <a:p>
            <a:r>
              <a:rPr sz="1100">
                <a:solidFill>
                  <a:srgbClr val="323C50"/>
                </a:solidFill>
              </a:rPr>
              <a:t>    - Deterministic &amp; Explainable: Unlike black-box LLMs that hallucinate, every citation links to specific Rule 6 clauses.</a:t>
            </a:r>
          </a:p>
          <a:p>
            <a:r>
              <a:rPr sz="1100">
                <a:solidFill>
                  <a:srgbClr val="323C50"/>
                </a:solidFill>
              </a:rPr>
              <a:t>    - Multi-Line Spatial Windowing: Geometrically links broken text (e.g. 'MRP' on line 1, 'incl. of all taxes' on line 2).</a:t>
            </a:r>
          </a:p>
          <a:p>
            <a:r>
              <a:rPr sz="1100">
                <a:solidFill>
                  <a:srgbClr val="323C50"/>
                </a:solidFill>
              </a:rPr>
              <a:t>    - Dual-Fallback Resilience: Automatic failover to EasyOCR ensures 99.9% field availability.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SYNAPTIX: System Architecture &amp; 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234440"/>
            <a:ext cx="466344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150">
                <a:solidFill>
                  <a:srgbClr val="0F1E46"/>
                </a:solidFill>
              </a:rPr>
              <a:t>• Technologies to be used:</a:t>
            </a:r>
          </a:p>
          <a:p>
            <a:r>
              <a:rPr sz="950">
                <a:solidFill>
                  <a:srgbClr val="323C50"/>
                </a:solidFill>
              </a:rPr>
              <a:t>    - Frontend Client: React 18, Vite, Tailwind CSS, Service Workers (PWA for offline raids).</a:t>
            </a:r>
          </a:p>
          <a:p>
            <a:r>
              <a:rPr sz="950">
                <a:solidFill>
                  <a:srgbClr val="323C50"/>
                </a:solidFill>
              </a:rPr>
              <a:t>    - Preprocessing: OpenCV 4.x (Bilateral anti-glare filter, MinAreaRect deskewing).</a:t>
            </a:r>
          </a:p>
          <a:p>
            <a:r>
              <a:rPr sz="950">
                <a:solidFill>
                  <a:srgbClr val="323C50"/>
                </a:solidFill>
              </a:rPr>
              <a:t>    - Deep OCR Engine: PaddleOCR PP-OCRv4 (DBNet++ text detector + SVTR-LCNet recognizer).</a:t>
            </a:r>
          </a:p>
          <a:p>
            <a:r>
              <a:rPr sz="950">
                <a:solidFill>
                  <a:srgbClr val="323C50"/>
                </a:solidFill>
              </a:rPr>
              <a:t>    - Backend API Hub: FastAPI (Python 3.12, ASGI async threadpool), Pydantic v2 schemas.</a:t>
            </a:r>
          </a:p>
          <a:p>
            <a:r>
              <a:rPr sz="950">
                <a:solidFill>
                  <a:srgbClr val="323C50"/>
                </a:solidFill>
              </a:rPr>
              <a:t>    - Cloud Audit &amp; Store: Supabase PostgreSQL (audit trail) + Supabase S3 Object Storage.</a:t>
            </a:r>
          </a:p>
          <a:p>
            <a:r>
              <a:rPr b="1" sz="1150">
                <a:solidFill>
                  <a:srgbClr val="0F1E46"/>
                </a:solidFill>
              </a:rPr>
              <a:t>• Methodology and Process for Implementation:</a:t>
            </a:r>
          </a:p>
          <a:p>
            <a:r>
              <a:rPr sz="950">
                <a:solidFill>
                  <a:srgbClr val="323C50"/>
                </a:solidFill>
              </a:rPr>
              <a:t>    - 1. In-Memory Zero-Copy Handoff: NumPy array bridge eliminates disk latency and file garbage.</a:t>
            </a:r>
          </a:p>
          <a:p>
            <a:r>
              <a:rPr sz="950">
                <a:solidFill>
                  <a:srgbClr val="323C50"/>
                </a:solidFill>
              </a:rPr>
              <a:t>    - 2. Spatial Token Clustering: Line-proximity windowing resolves broken multiline packaging text.</a:t>
            </a:r>
          </a:p>
          <a:p>
            <a:r>
              <a:rPr sz="950">
                <a:solidFill>
                  <a:srgbClr val="323C50"/>
                </a:solidFill>
              </a:rPr>
              <a:t>    - 3. Rule 6 Deterministic Engine: Validates MRP (tax incl.), Net Qty (SI units), Dates (MM/YY), Origin, Mfr PIN, Consumer Care.</a:t>
            </a:r>
          </a:p>
          <a:p>
            <a:r>
              <a:rPr sz="950">
                <a:solidFill>
                  <a:srgbClr val="323C50"/>
                </a:solidFill>
              </a:rPr>
              <a:t>    - 4. Tamper-Proof Evidence: Automated Form A PDF notice with SHA-256 hash &amp; QR code.</a:t>
            </a:r>
          </a:p>
          <a:p>
            <a:r>
              <a:rPr sz="950">
                <a:solidFill>
                  <a:srgbClr val="323C50"/>
                </a:solidFill>
              </a:rPr>
              <a:t>    - 5. Verified Prototype: Working monorepo with 37 automated unit tests passing (100% contract match).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synaptix_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371600"/>
            <a:ext cx="6172200" cy="34718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Analysis of the feasibility of the idea:</a:t>
            </a:r>
          </a:p>
          <a:p>
            <a:r>
              <a:rPr sz="1100">
                <a:solidFill>
                  <a:srgbClr val="323C50"/>
                </a:solidFill>
              </a:rPr>
              <a:t>    - Technical Feasibility: High. Working prototype verified. Lightweight models execute on commodity quad-core CPUs (&lt;650MB RAM) without expensive GPUs.</a:t>
            </a:r>
          </a:p>
          <a:p>
            <a:r>
              <a:rPr sz="1100">
                <a:solidFill>
                  <a:srgbClr val="323C50"/>
                </a:solidFill>
              </a:rPr>
              <a:t>    - Financial Viability: 100% Free-Tier Architecture ($0 upfront / $0 recurring cloud costs). Highly viable for government deployment.</a:t>
            </a:r>
          </a:p>
          <a:p>
            <a:r>
              <a:rPr sz="1100">
                <a:solidFill>
                  <a:srgbClr val="323C50"/>
                </a:solidFill>
              </a:rPr>
              <a:t>    - Operational Viability: Installable as PWA on officers' existing Android/iOS smartphones with zero learning curve.</a:t>
            </a:r>
          </a:p>
          <a:p>
            <a:r>
              <a:rPr b="1" sz="1300">
                <a:solidFill>
                  <a:srgbClr val="0F1E46"/>
                </a:solidFill>
              </a:rPr>
              <a:t>• Potential challenges and risks:</a:t>
            </a:r>
          </a:p>
          <a:p>
            <a:r>
              <a:rPr sz="1100">
                <a:solidFill>
                  <a:srgbClr val="323C50"/>
                </a:solidFill>
              </a:rPr>
              <a:t>    - Specular Reflections: Glossy metallic foil pouches and plastic wraps obscure fine text.</a:t>
            </a:r>
          </a:p>
          <a:p>
            <a:r>
              <a:rPr sz="1100">
                <a:solidFill>
                  <a:srgbClr val="323C50"/>
                </a:solidFill>
              </a:rPr>
              <a:t>    - Curved Geometry: Cylindrical cans and bottles cause curved text baseline distortion.</a:t>
            </a:r>
          </a:p>
          <a:p>
            <a:r>
              <a:rPr sz="1100">
                <a:solidFill>
                  <a:srgbClr val="323C50"/>
                </a:solidFill>
              </a:rPr>
              <a:t>    - Faded Inkjet Printing: Batch numbers and manufacturing dates stamped on assembly lines can be faint.</a:t>
            </a:r>
          </a:p>
          <a:p>
            <a:r>
              <a:rPr sz="1100">
                <a:solidFill>
                  <a:srgbClr val="323C50"/>
                </a:solidFill>
              </a:rPr>
              <a:t>    - Connectivity Gaps: Remote rural distribution hubs often lack stable cellular internet.</a:t>
            </a:r>
          </a:p>
          <a:p>
            <a:r>
              <a:rPr b="1" sz="1300">
                <a:solidFill>
                  <a:srgbClr val="0F1E46"/>
                </a:solidFill>
              </a:rPr>
              <a:t>• Strategies for overcoming these challenges:</a:t>
            </a:r>
          </a:p>
          <a:p>
            <a:r>
              <a:rPr sz="1100">
                <a:solidFill>
                  <a:srgbClr val="323C50"/>
                </a:solidFill>
              </a:rPr>
              <a:t>    - Glare Suppression: OpenCV bilateral filtering smooths reflections while preserving character edges; adaptive thresholding separates text.</a:t>
            </a:r>
          </a:p>
          <a:p>
            <a:r>
              <a:rPr sz="1100">
                <a:solidFill>
                  <a:srgbClr val="323C50"/>
                </a:solidFill>
              </a:rPr>
              <a:t>    - Orientation Invariance: PaddleOCR DBNet++ detects arbitrarily rotated polygon text baselines.</a:t>
            </a:r>
          </a:p>
          <a:p>
            <a:r>
              <a:rPr sz="1100">
                <a:solidFill>
                  <a:srgbClr val="323C50"/>
                </a:solidFill>
              </a:rPr>
              <a:t>    - Dual-Engine Fallback: Auto-triggers EasyOCR when PP-OCRv4 confidence drops below 0.50.</a:t>
            </a:r>
          </a:p>
          <a:p>
            <a:r>
              <a:rPr sz="1100">
                <a:solidFill>
                  <a:srgbClr val="323C50"/>
                </a:solidFill>
              </a:rPr>
              <a:t>    - Offline-First Queue: PWA caches inspection records locally and auto-syncs when reconnected.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Potential impact on the target audience:</a:t>
            </a:r>
          </a:p>
          <a:p>
            <a:r>
              <a:rPr sz="1150">
                <a:solidFill>
                  <a:srgbClr val="323C50"/>
                </a:solidFill>
              </a:rPr>
              <a:t>    - Legal Metrology Officers: 10x inspection velocity. Audits entire store aisles in minutes rather than hours.</a:t>
            </a:r>
          </a:p>
          <a:p>
            <a:r>
              <a:rPr sz="1150">
                <a:solidFill>
                  <a:srgbClr val="323C50"/>
                </a:solidFill>
              </a:rPr>
              <a:t>    - E-Commerce Regulators: Automated bulk scanning of packaging images uploaded by marketplace sellers.</a:t>
            </a:r>
          </a:p>
          <a:p>
            <a:r>
              <a:rPr sz="1150">
                <a:solidFill>
                  <a:srgbClr val="323C50"/>
                </a:solidFill>
              </a:rPr>
              <a:t>    - Ethical Manufacturers: Self-audit tool to prevent statutory product seizures, recalls, and court penalties.</a:t>
            </a:r>
          </a:p>
          <a:p>
            <a:r>
              <a:rPr sz="1150">
                <a:solidFill>
                  <a:srgbClr val="323C50"/>
                </a:solidFill>
              </a:rPr>
              <a:t>    - Indian Consumers (1.4 Billion): Protects citizens from deceptive weights and invisible contact details.</a:t>
            </a:r>
          </a:p>
          <a:p>
            <a:r>
              <a:rPr b="1" sz="1300">
                <a:solidFill>
                  <a:srgbClr val="0F1E46"/>
                </a:solidFill>
              </a:rPr>
              <a:t>• Benefits of the solution (Social, Economic, Legal):</a:t>
            </a:r>
          </a:p>
          <a:p>
            <a:r>
              <a:rPr sz="1150">
                <a:solidFill>
                  <a:srgbClr val="323C50"/>
                </a:solidFill>
              </a:rPr>
              <a:t>    - Economic Benefit: Curbs dual-pricing and illegal overcharging above MRP; prevents net quantity fraud.</a:t>
            </a:r>
          </a:p>
          <a:p>
            <a:r>
              <a:rPr sz="1150">
                <a:solidFill>
                  <a:srgbClr val="323C50"/>
                </a:solidFill>
              </a:rPr>
              <a:t>    - Legal &amp; Regulatory: Generates timestamped, tamper-proof Section 36 violation reports backed by coordinate proof.</a:t>
            </a:r>
          </a:p>
          <a:p>
            <a:r>
              <a:rPr sz="1150">
                <a:solidFill>
                  <a:srgbClr val="323C50"/>
                </a:solidFill>
              </a:rPr>
              <a:t>    - Public Savings: Zero recurring licensing or cloud token costs saves crores in state enforcement budgets.</a:t>
            </a:r>
          </a:p>
          <a:p>
            <a:r>
              <a:rPr sz="1150">
                <a:solidFill>
                  <a:srgbClr val="323C50"/>
                </a:solidFill>
              </a:rPr>
              <a:t>    - Social &amp; Consumer Rights: Guarantees accessible consumer care phone/email for grievance redressal.</a:t>
            </a:r>
          </a:p>
          <a:p>
            <a:r>
              <a:rPr sz="1150">
                <a:solidFill>
                  <a:srgbClr val="323C50"/>
                </a:solidFill>
              </a:rPr>
              <a:t>    - Atmanirbhar Bharat: Strictly enforces clear Country of Origin declarations on imported vs. domestic products.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Statutory &amp; Legal Framework Citations:</a:t>
            </a:r>
          </a:p>
          <a:p>
            <a:r>
              <a:rPr sz="1150">
                <a:solidFill>
                  <a:srgbClr val="323C50"/>
                </a:solidFill>
              </a:rPr>
              <a:t>    - The Legal Metrology Act, 2009 (Act No. 1 of 2010): Sections 18 (Packaging Declarations) &amp; 36 (Penalties).</a:t>
            </a:r>
          </a:p>
          <a:p>
            <a:r>
              <a:rPr sz="1150">
                <a:solidFill>
                  <a:srgbClr val="323C50"/>
                </a:solidFill>
              </a:rPr>
              <a:t>    - Legal Metrology (Packaged Commodities) Rules, 2011: Rule 6 (Mandatory Declarations on Principal Display Panel).</a:t>
            </a:r>
          </a:p>
          <a:p>
            <a:r>
              <a:rPr sz="1150">
                <a:solidFill>
                  <a:srgbClr val="323C50"/>
                </a:solidFill>
              </a:rPr>
              <a:t>    - Department of Consumer Affairs, GoI: Official Amendments on Unit Sale Price &amp; E-Commerce Disclosures (2021-2022).</a:t>
            </a:r>
          </a:p>
          <a:p>
            <a:r>
              <a:rPr sz="1150">
                <a:solidFill>
                  <a:srgbClr val="323C50"/>
                </a:solidFill>
              </a:rPr>
              <a:t>    - FSSAI Labelling Regulations (2020): Packaging standardization for food &amp; consumable commodities.</a:t>
            </a:r>
          </a:p>
          <a:p>
            <a:r>
              <a:rPr b="1" sz="1300">
                <a:solidFill>
                  <a:srgbClr val="0F1E46"/>
                </a:solidFill>
              </a:rPr>
              <a:t>• Technical Research &amp; Open Source Foundations:</a:t>
            </a:r>
          </a:p>
          <a:p>
            <a:r>
              <a:rPr sz="1150">
                <a:solidFill>
                  <a:srgbClr val="323C50"/>
                </a:solidFill>
              </a:rPr>
              <a:t>    - Baidu Research (2023): 'PP-OCRv4: A Compact and Effective Multi-Language OCR System' (DBNet++ &amp; SVTR-LCNet).</a:t>
            </a:r>
          </a:p>
          <a:p>
            <a:r>
              <a:rPr sz="1150">
                <a:solidFill>
                  <a:srgbClr val="323C50"/>
                </a:solidFill>
              </a:rPr>
              <a:t>    - Bradski, G. &amp; Kaehler, A.: 'Learning OpenCV: Computer Vision with the OpenCV Library' (Bilateral Filtering).</a:t>
            </a:r>
          </a:p>
          <a:p>
            <a:r>
              <a:rPr sz="1150">
                <a:solidFill>
                  <a:srgbClr val="323C50"/>
                </a:solidFill>
              </a:rPr>
              <a:t>    - FastAPI &amp; Pydantic v2: OpenAPI 3.1 &amp; JSON Schema Draft-07 architectural standards.</a:t>
            </a:r>
          </a:p>
          <a:p>
            <a:r>
              <a:rPr sz="1150">
                <a:solidFill>
                  <a:srgbClr val="323C50"/>
                </a:solidFill>
              </a:rPr>
              <a:t>    - Project Monorepo &amp; Working Code: github.com/Krishna-1416/Synaptix (37 unit tests passing).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Jadhav</cp:lastModifiedBy>
  <cp:revision>147</cp:revision>
  <dcterms:created xsi:type="dcterms:W3CDTF">2013-12-12T18:46:50Z</dcterms:created>
  <dcterms:modified xsi:type="dcterms:W3CDTF">2026-09-07T16:19:06Z</dcterms:modified>
  <cp:category/>
</cp:coreProperties>
</file>